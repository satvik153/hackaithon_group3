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ppt_media/hero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051560"/>
            <a:ext cx="5074920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3108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589520" y="3108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60" kern="0" dirty="0">
                <a:solidFill>
                  <a:srgbClr val="A8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LEVEL  · 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66928" y="22128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Waste. Close the Loop.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2743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Python desktop app that turns daily household waste into numbers, a hotspot, a score — and a plan.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52044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214833"/>
          </a:solidFill>
          <a:ln w="12700">
            <a:solidFill>
              <a:srgbClr val="2148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5204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OOP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352044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214833"/>
          </a:solidFill>
          <a:ln w="12700">
            <a:solidFill>
              <a:srgbClr val="2148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35204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App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352044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214833"/>
          </a:solidFill>
          <a:ln w="12700">
            <a:solidFill>
              <a:srgbClr val="2148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35204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 · 12 · 13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5943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Satvik  ·  Kanav  ·  Nipun  ·  Tanvi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623620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Myra's Global Tech HACK-AI-THON 2026  ·  National Group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slides. One working prototype.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572768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64792" y="1481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SDGs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64792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 gap. Goals 11, 12, 13.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505456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2779776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77977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64792" y="26883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4792" y="3035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seven screens, OOP pillars.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3986784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98678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09–12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64792" y="38953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64792" y="42428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CRUD, score math, What-If.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919472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5193792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519379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64792" y="51023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64792" y="544982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records → 10.3 kg, 73%, 69/100.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1298448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1572768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71232" y="1481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71232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add, records, simulator.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2505456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2779776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77977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17–18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71232" y="26883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+ AI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71232" y="3035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hard. Five agents named.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3712464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55664" y="3986784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398678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71232" y="38953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&amp; future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71232" y="42428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prototype. Clear next steps.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09360" y="4919472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5664" y="5193792"/>
            <a:ext cx="960120" cy="512064"/>
          </a:xfrm>
          <a:prstGeom prst="roundRect">
            <a:avLst>
              <a:gd name="adj" fmla="val 107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519379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71232" y="51023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71232" y="544982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Team, run command,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happens. Measurement does not.</a:t>
            </a:r>
            <a:endParaRPr lang="en-US" sz="2600" dirty="0"/>
          </a:p>
        </p:txBody>
      </p:sp>
      <p:pic>
        <p:nvPicPr>
          <p:cNvPr id="9" name="Image 0" descr="/home/workdir/artifacts/ppt_media/q_icons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15568"/>
            <a:ext cx="11338560" cy="1874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waste, really?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category dominates?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share is recycled?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8972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habit improving?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74720"/>
            <a:ext cx="11183112" cy="2788920"/>
          </a:xfrm>
          <a:prstGeom prst="roundRect">
            <a:avLst>
              <a:gd name="adj" fmla="val 3279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6576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GAP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400507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produce plastic, organic, paper, glass, metal and e-waste every day. Almost none of it is written down. So families guess. Societies guess. Campaigns guess.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47091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hotspot you cannot aim. Without a recycling rate you cannot tell if effort is working. Without a simulation you cannot test a habit before you change your kitchen.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school project with a real kitchen use-case.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" y="212140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wants a weekly picture of what left the house — not a municipal dashboard.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298448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65392" y="212140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OOP + Python example: classes, CRUD, formulas, a GUI, a report.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/ judges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" y="449884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on screen can be added up from six sample rows by hand.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675888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65392" y="449884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you can scale later: record → analyse → advise → simulate.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RELEVANCE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goals. One household tool.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theme: Python Fundamentals + OOP + SDGs. Each goal maps to a feature the user can see.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82880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" y="208483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58952" y="29718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Cities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Communities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388620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household is the smallest unit of a cleaner city. TerraLoop makes that unit visible.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162763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82880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208483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4599432" y="29718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Consumption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Production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99432" y="388620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rate, category bars and the hotspot turn vague “we recycle” into a checkable percentage.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162763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182880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9912" y="208483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8439912" y="29718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39912" y="388620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plastic and routing e-waste correctly is climate work at kitchen scale — small, but real.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kitchen bin to a decision in five steps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2194560" cy="3246120"/>
          </a:xfrm>
          <a:prstGeom prst="roundRect">
            <a:avLst>
              <a:gd name="adj" fmla="val 4167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481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1874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" y="2468880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kg, date, recycled flag, note.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07208" y="1325880"/>
            <a:ext cx="2194560" cy="324612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1481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53512" y="1874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53512" y="2468880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Totals, %, recycling rate, hotspot, score.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11496" y="1325880"/>
            <a:ext cx="2194560" cy="324612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81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1874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2468880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tied to this household’s pattern.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15784" y="1325880"/>
            <a:ext cx="2194560" cy="3246120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1481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62088" y="1874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62088" y="2468880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one category by N%. Compare before / after.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20072" y="1325880"/>
            <a:ext cx="2194560" cy="3246120"/>
          </a:xfrm>
          <a:prstGeom prst="roundRect">
            <a:avLst>
              <a:gd name="adj" fmla="val 4167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376" y="1481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66376" y="1874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66376" y="2468880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summary on screen. Save as TXT.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4754880"/>
            <a:ext cx="11183112" cy="1554480"/>
          </a:xfrm>
          <a:prstGeom prst="roundRect">
            <a:avLst>
              <a:gd name="adj" fmla="val 5882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91947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FIT  ·  MINIMUM REQUIREMENTS, THEN MORE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230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+ WasteRecord classes. Add / update / delete / search. Total waste, category percentages, recycling rate, sustainability score, recommendations, selected-period report. Extra: hotspot, What-If simulator, TXT export, Tkinter GUI.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pipeline. Each box is a class.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Waste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66544" y="15361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172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32504" y="15361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+ 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98464" y="15361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64424" y="15361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Sim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30384" y="15361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95560" y="1207008"/>
            <a:ext cx="1828800" cy="1078992"/>
          </a:xfrm>
          <a:prstGeom prst="roundRect">
            <a:avLst>
              <a:gd name="adj" fmla="val 847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9556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habits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2450592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FBF7EE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4505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245059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member count — used to label every report.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" y="2980944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EFE9DB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9809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WasteRecord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0" y="298094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date, category, weight kg, recycled flag, note.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" y="3511296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FBF7EE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35112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WasteManager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40480" y="351129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list. Add, update, delete, search, 7 / 30 / all-time filter.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4041648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EFE9DB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0416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WasteAnalyzer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40480" y="404164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math. The UI never calculates. The simulator reuses this class.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" y="45720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FBF7EE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5720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RecommendationEngine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840480" y="457200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If-then rules on analyzer output. Not machine learning.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2920" y="5102352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EFE9DB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10235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SustainabilitySimulator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840480" y="510235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records, shrinks one category, reruns the analyzer.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2920" y="5632704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FBF7EE"/>
          </a:solidFill>
          <a:ln w="9525">
            <a:solidFill>
              <a:srgbClr val="D9D2C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6327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TerraLoopApp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840480" y="563270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shell. Composes the others. Holds no secret business logic.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screens. One sidebar. Nothing hidden.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426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7190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" y="22860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filter. Four live cards. Hotspot banner.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126187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426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17190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7872" y="22860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kg &gt; 0 and blocks future dates.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26187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426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17190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28232" y="22860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category filter, edit, delete.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126187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1426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08592" y="17190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8592" y="22860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+ % for every category in the window.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73075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8953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" y="475488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at ≥25% category, &lt;50% recycle, &gt;10% e-waste.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83280" y="373075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8953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47872" y="41879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47872" y="475488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 5–90%. Current vs projected side by side.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373075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8953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28232" y="41879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28232" y="475488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narrative with grade and SDG mapping.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44000" y="3730752"/>
            <a:ext cx="2761488" cy="228600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38953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08592" y="41879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Export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08592" y="475488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report for judges, teachers or home.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theme is the architecture — not a label.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5623560" cy="1737360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61872"/>
            <a:ext cx="91440" cy="1737360"/>
          </a:xfrm>
          <a:prstGeom prst="rect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4264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&amp; Objects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181051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Household, record, manager, analyzer, recommender, simulator, app. Every logged item is a WasteRecord object in memory.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5623560" cy="1737360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261872"/>
            <a:ext cx="9144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4264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01968" y="181051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WasteManager mutates the list. Other classes ask for data. A record keeps its own fields and status().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5623560" cy="1737360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36392"/>
            <a:ext cx="91440" cy="1737360"/>
          </a:xfrm>
          <a:prstGeom prst="rect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30098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528" y="368503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calls recycling_rate(). It never sees the division. Score logic can change without touching a widget.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136392"/>
            <a:ext cx="5623560" cy="1737360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136392"/>
            <a:ext cx="9144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330098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01968" y="368503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TerraLoopApp wires the parts. The simulator does not copy formulas — it builds a new analyzer on a modified copy.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02352"/>
            <a:ext cx="11183112" cy="1207008"/>
          </a:xfrm>
          <a:prstGeom prst="roundRect">
            <a:avLst>
              <a:gd name="adj" fmla="val 7576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3036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JUDGES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50468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category, a new metric or a new rule can be added without rewriting the window. That is the OOP requirement done properly — a design that can grow.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CODE  ·  DATA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objects hold the facts. Nothing else stores waste.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52144"/>
            <a:ext cx="5669280" cy="3383280"/>
          </a:xfrm>
          <a:prstGeom prst="roundRect">
            <a:avLst>
              <a:gd name="adj" fmla="val 2703"/>
            </a:avLst>
          </a:prstGeom>
          <a:solidFill>
            <a:srgbClr val="12241C"/>
          </a:solidFill>
          <a:ln w="12700">
            <a:solidFill>
              <a:srgbClr val="1224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261872"/>
            <a:ext cx="541324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Household: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__init__(self, name, members=1):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self.name    =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self.members = members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WasteRecord: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__init__(self, record_id, record_date,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category, weight, recycled, note=""):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self.record_id   = record_id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self.record_date = record_date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self.category    = category   # one of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self.weight      = float(weight)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self.recycled    = bool(recycled)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self.note        = note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152144"/>
            <a:ext cx="5330952" cy="1572768"/>
          </a:xfrm>
          <a:prstGeom prst="roundRect">
            <a:avLst>
              <a:gd name="adj" fmla="val 581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28016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6642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Plastic, Paper, Organic, Glass, Metal, E-Waste. A dropdown — not free text — so analysis stays clean.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2843784"/>
            <a:ext cx="5330952" cy="1572768"/>
          </a:xfrm>
          <a:prstGeom prst="roundRect">
            <a:avLst>
              <a:gd name="adj" fmla="val 5814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97180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status() on the record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3558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row knows if it is Recycled or Not Recycled. The table does not decide.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4535424"/>
            <a:ext cx="5330952" cy="1572768"/>
          </a:xfrm>
          <a:prstGeom prst="roundRect">
            <a:avLst>
              <a:gd name="adj" fmla="val 5814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66344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is a label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50474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member count ride on every report. They do not change the math.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CODE  ·  WASTEMANAGER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 owns the list. CRUD never leaks into the GUI.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52144"/>
            <a:ext cx="6537960" cy="3657600"/>
          </a:xfrm>
          <a:prstGeom prst="roundRect">
            <a:avLst>
              <a:gd name="adj" fmla="val 2500"/>
            </a:avLst>
          </a:prstGeom>
          <a:solidFill>
            <a:srgbClr val="12241C"/>
          </a:solidFill>
          <a:ln w="12700">
            <a:solidFill>
              <a:srgbClr val="1224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261872"/>
            <a:ext cx="628192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WasteManager: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add_record(self, date, category, weight,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recycled, note=""):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B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record = WasteRecord(self.next_id, 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category, weight, recycled, note)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self.records.append(record)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self.next_id +=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update_record(self, record_id, **fields):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delete_record(self, record_id):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search(self, text="", category="All"):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filter_period(self, window):   # 7 / 30 / 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152144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assigns the 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15727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next_id lives here so edit and delete always find the same row.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2414016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523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a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over note / date / category, plus an exact category dropdown.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3675888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785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is a date cut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4096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7 days, last 30 days, or all time. Analyzer only sees the cut list.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4937760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5047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at the door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53583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must be &gt; 0. Date cannot be in the future. Bad rows never enter the list.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CODE  ·  ANALYZER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never divides. WasteAnalyzer does all the math.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52144"/>
            <a:ext cx="6675120" cy="4160520"/>
          </a:xfrm>
          <a:prstGeom prst="roundRect">
            <a:avLst>
              <a:gd name="adj" fmla="val 2198"/>
            </a:avLst>
          </a:prstGeom>
          <a:solidFill>
            <a:srgbClr val="12241C"/>
          </a:solidFill>
          <a:ln w="12700">
            <a:solidFill>
              <a:srgbClr val="1224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261872"/>
            <a:ext cx="641908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WasteAnalyzer: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total_waste(self):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 sum(r.weight for r in self.records)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B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recycling_rate(self):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rec = sum(r.weight for r in self.records if r.recycled)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tot = self.total_waste()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 0 if tot == 0 else (rec / tot) * 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category_percentages(self):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hotspot(self):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 category with the largest share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def sustainability_score(self):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rec  = rate * 0.60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div  = max(0, 20 - largest_% * 0.20)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e    = max(0, 20 - e_waste_%)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 round(min(100, rec + div + e))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1152144"/>
            <a:ext cx="4325112" cy="1170432"/>
          </a:xfrm>
          <a:prstGeom prst="roundRect">
            <a:avLst>
              <a:gd name="adj" fmla="val 7813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2618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20 / 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15727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drives the score. Concentration and e-waste trim the rest. Cap 100.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2414016"/>
            <a:ext cx="432511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5237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= max share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2834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map. The category that owns the largest slice of the period.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60920" y="3675888"/>
            <a:ext cx="432511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37856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class, two uses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40965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What-If both construct a WasteAnalyzer. No copied formulas.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4937760"/>
            <a:ext cx="432511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50474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53583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Excellent · 60+ Good · 40+ Fair · below 40 Poor.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sample rows. Every dashboard figure follows.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52144"/>
            <a:ext cx="6537960" cy="384048"/>
          </a:xfrm>
          <a:prstGeom prst="rect">
            <a:avLst/>
          </a:prstGeom>
          <a:solidFill>
            <a:srgbClr val="15301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521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11521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1521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1521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536192"/>
            <a:ext cx="65379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3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1536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536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920240"/>
            <a:ext cx="6537960" cy="384048"/>
          </a:xfrm>
          <a:prstGeom prst="rect">
            <a:avLst/>
          </a:prstGeom>
          <a:solidFill>
            <a:srgbClr val="EFE9DB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4884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1920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2304288"/>
            <a:ext cx="65379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304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48840" y="2304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60520" y="2304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3042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2688336"/>
            <a:ext cx="6537960" cy="384048"/>
          </a:xfrm>
          <a:prstGeom prst="rect">
            <a:avLst/>
          </a:prstGeom>
          <a:solidFill>
            <a:srgbClr val="EFE9DB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688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48840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60520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26883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3072384"/>
            <a:ext cx="65379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072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148840" y="3072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60520" y="3072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74920" y="30723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recycled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3456432"/>
            <a:ext cx="6537960" cy="384048"/>
          </a:xfrm>
          <a:prstGeom prst="rect">
            <a:avLst/>
          </a:prstGeom>
          <a:solidFill>
            <a:srgbClr val="EFE9DB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2026-09-11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148840" y="3456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16052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74920" y="34564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recycled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223760" y="1152144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 kg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06640" y="1627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waste  ·  1.8+3.2+1.4+1.1+0.7+2.1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223760" y="2414016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5237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kg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406640" y="28895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  ·  the four Recycled rows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223760" y="3675888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37856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406640" y="41513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rate  ·  7.5 ÷ 10.3 × 100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223760" y="4937760"/>
            <a:ext cx="4462272" cy="1170432"/>
          </a:xfrm>
          <a:prstGeom prst="roundRect">
            <a:avLst>
              <a:gd name="adj" fmla="val 7813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50474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38%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406640" y="54132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 ·  3.9 ÷ 10.3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RULES, SIMULATOR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73% recycling to a 69 score — then a plan.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5623560" cy="3063240"/>
          </a:xfrm>
          <a:prstGeom prst="roundRect">
            <a:avLst>
              <a:gd name="adj" fmla="val 298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167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 THE SAMPLE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664208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Recycling   73 × 0.60          =  43.8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Diversify   20 − (37.9 × 0.20)  =  12.4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E-waste     20 − 6.8             =  13.2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rounded and capped            69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170432"/>
            <a:ext cx="5376672" cy="3063240"/>
          </a:xfrm>
          <a:prstGeom prst="roundRect">
            <a:avLst>
              <a:gd name="adj" fmla="val 298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316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FIRE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0528" y="1664208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share ≥ 25%  →  hotspot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rate &lt; 50%   →  segregate more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share &gt; 10%    →  authorised drop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sample: Plastic 38% and Organic 31% trigger advice. Recycling is already 73%, e-waste is 6.8% — those two rules stay quiet.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89120"/>
            <a:ext cx="11183112" cy="1901952"/>
          </a:xfrm>
          <a:prstGeom prst="roundRect">
            <a:avLst>
              <a:gd name="adj" fmla="val 4808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354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 ·  SAME ANALYZER, THINNER COPY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6460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category and a cut of 5–90%. Every matching row is multiplied by (1 − pct/100). A new WasteAnalyzer runs on that copy. Current vs projected totals, rate and score appear side by side — no second formula sheet.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 records the judges can re-add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1600200" cy="1078992"/>
          </a:xfrm>
          <a:prstGeom prst="roundRect">
            <a:avLst>
              <a:gd name="adj" fmla="val 847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 kg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6824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WASTE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097280"/>
            <a:ext cx="16002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11704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16824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86200" y="1097280"/>
            <a:ext cx="16002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1704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69/100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16824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097280"/>
            <a:ext cx="1600200" cy="1078992"/>
          </a:xfrm>
          <a:prstGeom prst="roundRect">
            <a:avLst>
              <a:gd name="adj" fmla="val 847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1704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16824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38%</a:t>
            </a:r>
            <a:endParaRPr lang="en-US" sz="1000" dirty="0"/>
          </a:p>
        </p:txBody>
      </p:sp>
      <p:pic>
        <p:nvPicPr>
          <p:cNvPr id="21" name="Image 0" descr="/home/workdir/artifacts/ppt_media/dash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331720"/>
            <a:ext cx="6720840" cy="3977640"/>
          </a:xfrm>
          <a:prstGeom prst="rect">
            <a:avLst/>
          </a:prstGeom>
        </p:spPr>
      </p:pic>
      <p:pic>
        <p:nvPicPr>
          <p:cNvPr id="22" name="Image 1" descr="/home/workdir/artifacts/ppt_media/hotspot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06640" y="1097280"/>
            <a:ext cx="4297680" cy="2468880"/>
          </a:xfrm>
          <a:prstGeom prst="rect">
            <a:avLst/>
          </a:prstGeom>
        </p:spPr>
      </p:pic>
      <p:pic>
        <p:nvPicPr>
          <p:cNvPr id="23" name="Image 2" descr="/home/workdir/artifacts/ppt_media/recs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06640" y="3657600"/>
            <a:ext cx="42976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Add. List. Simulate. Same session.</a:t>
            </a:r>
            <a:endParaRPr lang="en-US" sz="2200" dirty="0"/>
          </a:p>
        </p:txBody>
      </p:sp>
      <p:pic>
        <p:nvPicPr>
          <p:cNvPr id="9" name="Image 0" descr="/home/workdir/artifacts/ppt_media/ad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70432"/>
            <a:ext cx="2880360" cy="5074920"/>
          </a:xfrm>
          <a:prstGeom prst="rect">
            <a:avLst/>
          </a:prstGeom>
        </p:spPr>
      </p:pic>
      <p:pic>
        <p:nvPicPr>
          <p:cNvPr id="10" name="Image 1" descr="/home/workdir/artifacts/ppt_media/records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1170432"/>
            <a:ext cx="4892040" cy="3063240"/>
          </a:xfrm>
          <a:prstGeom prst="rect">
            <a:avLst/>
          </a:prstGeom>
        </p:spPr>
      </p:pic>
      <p:pic>
        <p:nvPicPr>
          <p:cNvPr id="11" name="Image 2" descr="/home/workdir/artifacts/ppt_media/sim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4720" y="4297680"/>
            <a:ext cx="4892040" cy="1965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49640" y="1170432"/>
            <a:ext cx="3154680" cy="5074920"/>
          </a:xfrm>
          <a:prstGeom prst="roundRect">
            <a:avLst>
              <a:gd name="adj" fmla="val 2899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73252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IN THE DEMO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732520" y="196596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sample rows load on start.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record #2, delete one row, filter Last 30 Days.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stays Plastic until you cut it in the simulator.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on the dashboard can be added up from the Records table by hand.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helped us move faster. It did not replace judgement.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problems we had to solve as a team — not as a prompt.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3703320" cy="4681728"/>
          </a:xfrm>
          <a:prstGeom prst="roundRect">
            <a:avLst>
              <a:gd name="adj" fmla="val 2469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" y="22402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and verifying AI-generated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" y="356616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had to go through the generated code and understand how each class, function and calculation worked before using it in the final project. Nothing shipped until we could explain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703320" cy="4681728"/>
          </a:xfrm>
          <a:prstGeom prst="roundRect">
            <a:avLst>
              <a:gd name="adj" fmla="val 2469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62856" y="22402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the brief with the generated code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856" y="356616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produce a working app. We still had to check that TerraLoop covered every requirement: OOP classes, waste analysis, recycling rate, recommendations and simulation.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83880" y="1554480"/>
            <a:ext cx="3703320" cy="4681728"/>
          </a:xfrm>
          <a:prstGeom prst="roundRect">
            <a:avLst>
              <a:gd name="adj" fmla="val 2469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3336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03336" y="22402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code consistency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03336" y="356616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README, documentation, screenshots and presentation consistent with the actual final code was hard — especially when features or wording changed during development.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WE USED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agents. Five jobs. The team still owned the result.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because the hackathon asks teams to name the AI they used.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792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" y="235915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generation, debugging, planning and problem-solving.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1536192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792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35915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content refinement.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83880" y="1536192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792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9912" y="235915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Brainstorming, feature ideas and technical assistance.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67912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1239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8952" y="469087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coding assistance and troubleshooting.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3867912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41239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11112" y="469087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 the presentation and documentation.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TERRALOOP  ·  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52160" y="21945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80" kern="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1183112" cy="13716"/>
          </a:xfrm>
          <a:prstGeom prst="rect">
            <a:avLst/>
          </a:prstGeom>
          <a:solidFill>
            <a:srgbClr val="D9D2C3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HackAIThon Group 3  ·  Myra's Global Tech HACK-AI-THON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528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the prototype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5623560" cy="5010912"/>
          </a:xfrm>
          <a:prstGeom prst="roundRect">
            <a:avLst>
              <a:gd name="adj" fmla="val 1825"/>
            </a:avLst>
          </a:prstGeom>
          <a:solidFill>
            <a:srgbClr val="FBF7EE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In-memory only — close the window, the log is gone.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53288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One household. No logins or family accounts.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19125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Score is a custom heuristic, not a certified index.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 Recommendations are rules, not predictions.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 No municipal recycling feed to benchmark against.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 Desktop Tkinter — not a phone app yet.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261872"/>
            <a:ext cx="5376672" cy="5010912"/>
          </a:xfrm>
          <a:prstGeom prst="roundRect">
            <a:avLst>
              <a:gd name="adj" fmla="val 1825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426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8745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SQLite so history survives a restart.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5328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Accounts for a family or a housing society.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31912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Month-by-month trend charts.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384962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 Benchmark the score against a city average.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5079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 Web or mobile client on the same classes.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 Optional later forecast — clearly separate from today’s rules.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ppt_media/icon_bin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554480"/>
            <a:ext cx="3063240" cy="3063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modest Python app. Real OOP. Numbers a household can act 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E3B2C"/>
          </a:solidFill>
          <a:ln w="12700">
            <a:solidFill>
              <a:srgbClr val="1E3B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Kanav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06040" y="16916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E3B2C"/>
          </a:solidFill>
          <a:ln w="12700">
            <a:solidFill>
              <a:srgbClr val="1E3B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0604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Satvik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79192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 GitHub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16916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E3B2C"/>
          </a:solidFill>
          <a:ln w="12700">
            <a:solidFill>
              <a:srgbClr val="1E3B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Nipun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45152" y="2286000"/>
            <a:ext cx="18745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Presentation, testing,</a:t>
            </a:r>
            <a:br>
              <a:rPr lang="en-US" sz="1100" dirty="0"/>
            </a:br>
            <a:r>
              <a:rPr lang="en-US" sz="1100" dirty="0"/>
              <a:t xml:space="preserve">code, GitHub &amp; more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6916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E3B2C"/>
          </a:solidFill>
          <a:ln w="12700">
            <a:solidFill>
              <a:srgbClr val="1E3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Tanvi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11112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  python First.py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3511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  ·  Pillow  ·  Standard library otherwise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  ·  HackAIThon Group 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62636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Myra's Global Tech HACK-AI-THON 2026  ·  National Level Group Challenge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TerraLoop — Measure Waste. Close the Loop.</dc:title>
  <dc:subject>PptxGenJS Presentation</dc:subject>
  <dc:creator>HackAIThon Group 3</dc:creator>
  <cp:lastModifiedBy>HackAIThon Group 3</cp:lastModifiedBy>
  <cp:revision>1</cp:revision>
  <dcterms:created xsi:type="dcterms:W3CDTF">2026-09-15T12:05:35Z</dcterms:created>
  <dcterms:modified xsi:type="dcterms:W3CDTF">2026-09-15T12:05:35Z</dcterms:modified>
</cp:coreProperties>
</file>